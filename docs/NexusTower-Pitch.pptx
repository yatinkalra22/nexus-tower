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-914400"/>
            <a:ext cx="7315200" cy="7315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200400"/>
            <a:ext cx="5486400" cy="5486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200" b="1">
                <a:solidFill>
                  <a:srgbClr val="FFFFFF"/>
                </a:solidFill>
                <a:latin typeface="Inter"/>
              </a:defRPr>
            </a:pPr>
            <a:r>
              <a:t>NEXUS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38BDF8"/>
                </a:solidFill>
                <a:latin typeface="Inter"/>
              </a:rPr>
              <a:t>TOWER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0">
                <a:solidFill>
                  <a:srgbClr val="CBD5E1"/>
                </a:solidFill>
                <a:latin typeface="Inter"/>
              </a:defRPr>
            </a:pPr>
            <a:r>
              <a:t>Agentic Logistics Control Tower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6400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  <a:defRPr sz="1600" b="0">
                <a:solidFill>
                  <a:srgbClr val="64748B"/>
                </a:solidFill>
                <a:latin typeface="Inter"/>
              </a:defRPr>
            </a:pPr>
            <a:r>
              <a:t>AI detects disruptions from live data. Proposes fixes.</a:t>
            </a:r>
            <a:br/>
            <a:r>
              <a:t>Humans approve. The system executes. Every action audited.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612648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38BDF8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617220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Live Data 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612648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38BDF8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17220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Agent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612648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38BDF8"/>
                </a:solidFill>
                <a:latin typeface="Inter"/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617220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Features Shipped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612648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38BDF8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17220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Fake Data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0">
                <a:solidFill>
                  <a:srgbClr val="334155"/>
                </a:solidFill>
                <a:latin typeface="SF Mono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38BDF8"/>
                </a:solidFill>
                <a:latin typeface="SF Mono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73152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5200"/>
              </a:lnSpc>
              <a:defRPr sz="4000" b="1">
                <a:solidFill>
                  <a:srgbClr val="FFFFFF"/>
                </a:solidFill>
                <a:latin typeface="Inter"/>
              </a:defRPr>
            </a:pPr>
            <a:r>
              <a:t>Supply chains can see problems.</a:t>
            </a:r>
            <a:br/>
            <a:r>
              <a:t>They can't act on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926080"/>
            <a:ext cx="4572000" cy="123444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09980" y="2938780"/>
            <a:ext cx="4546600" cy="120904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246120"/>
            <a:ext cx="45720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4023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B7185"/>
                </a:solidFill>
                <a:latin typeface="Inter"/>
              </a:defRPr>
            </a:pPr>
            <a:r>
              <a:t>5+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03320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to investigate a single disruption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926080"/>
            <a:ext cx="4572000" cy="123444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39180" y="2938780"/>
            <a:ext cx="4546600" cy="120904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246120"/>
            <a:ext cx="4572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383280"/>
            <a:ext cx="4023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BBF24"/>
                </a:solidFill>
                <a:latin typeface="Inter"/>
              </a:defRPr>
            </a:pPr>
            <a:r>
              <a:t>Hours of 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03320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between detection and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480560"/>
            <a:ext cx="4572000" cy="123444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9980" y="4493260"/>
            <a:ext cx="4546600" cy="120904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800600"/>
            <a:ext cx="4572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937760"/>
            <a:ext cx="4023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A78BFA"/>
                </a:solidFill>
                <a:latin typeface="Inter"/>
              </a:defRPr>
            </a:pPr>
            <a:r>
              <a:t>Zero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57800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decisions lost in calls and emails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480560"/>
            <a:ext cx="4572000" cy="123444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39180" y="4493260"/>
            <a:ext cx="4546600" cy="120904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800600"/>
            <a:ext cx="457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937760"/>
            <a:ext cx="4023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38BDF8"/>
                </a:solidFill>
                <a:latin typeface="Inter"/>
              </a:defRPr>
            </a:pPr>
            <a:r>
              <a:t>Dashboard fatigue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257800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charts everywhere, execution nowhere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0">
                <a:solidFill>
                  <a:srgbClr val="334155"/>
                </a:solidFill>
                <a:latin typeface="SF Mono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34D399"/>
                </a:solidFill>
                <a:latin typeface="SF Mono"/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73152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800" b="1">
                <a:solidFill>
                  <a:srgbClr val="FFFFFF"/>
                </a:solidFill>
                <a:latin typeface="Inter"/>
              </a:defRPr>
            </a:pPr>
            <a:r>
              <a:t>From signal to execution in one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874519" cy="34747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2780" y="2390140"/>
            <a:ext cx="1849119" cy="34493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38BDF8"/>
                </a:solidFill>
                <a:latin typeface="SF Mono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017520"/>
            <a:ext cx="1417319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141731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1417319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  <a:defRPr sz="1300" b="0">
                <a:solidFill>
                  <a:srgbClr val="94A3B8"/>
                </a:solidFill>
                <a:latin typeface="Inter"/>
              </a:defRPr>
            </a:pPr>
            <a:r>
              <a:t>Live signals from</a:t>
            </a:r>
            <a:br/>
            <a:r>
              <a:t>6 external feeds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141731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100" b="0">
                <a:solidFill>
                  <a:srgbClr val="64748B"/>
                </a:solidFill>
                <a:latin typeface="SF Mono"/>
              </a:defRPr>
            </a:pPr>
            <a:r>
              <a:t>AIS  +  Weather</a:t>
            </a:r>
            <a:br/>
            <a:r>
              <a:t>GDELT  +  WITS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7" y="3840480"/>
            <a:ext cx="1645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334155"/>
                </a:solidFill>
                <a:latin typeface="SF Mono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79191" y="2377440"/>
            <a:ext cx="1874519" cy="34747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91891" y="2390140"/>
            <a:ext cx="1849119" cy="34493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1" y="256032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A78BFA"/>
                </a:solidFill>
                <a:latin typeface="SF Mono"/>
              </a:defRPr>
            </a:pPr>
            <a: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07791" y="3017520"/>
            <a:ext cx="1417319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1" y="3154680"/>
            <a:ext cx="141731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REASON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1" y="3566160"/>
            <a:ext cx="1417319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  <a:defRPr sz="1300" b="0">
                <a:solidFill>
                  <a:srgbClr val="94A3B8"/>
                </a:solidFill>
                <a:latin typeface="Inter"/>
              </a:defRPr>
            </a:pPr>
            <a:r>
              <a:t>Claude agent calls</a:t>
            </a:r>
            <a:br/>
            <a:r>
              <a:t>real tools in a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1" y="4663440"/>
            <a:ext cx="141731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100" b="0">
                <a:solidFill>
                  <a:srgbClr val="64748B"/>
                </a:solidFill>
                <a:latin typeface="SF Mono"/>
              </a:defRPr>
            </a:pPr>
            <a:r>
              <a:t>Multi-step tool</a:t>
            </a:r>
            <a:br/>
            <a:r>
              <a:t>calls with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8" y="3840480"/>
            <a:ext cx="1645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334155"/>
                </a:solidFill>
                <a:latin typeface="SF Mono"/>
              </a:defRPr>
            </a:pPr>
            <a: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18302" y="2377440"/>
            <a:ext cx="1874519" cy="34747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31002" y="2390140"/>
            <a:ext cx="1849119" cy="34493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46902" y="256032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BBF24"/>
                </a:solidFill>
                <a:latin typeface="SF Mono"/>
              </a:defRPr>
            </a:pPr>
            <a: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46902" y="3017520"/>
            <a:ext cx="1417319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6902" y="3154680"/>
            <a:ext cx="141731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PROPOSE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6902" y="3566160"/>
            <a:ext cx="1417319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  <a:defRPr sz="1300" b="0">
                <a:solidFill>
                  <a:srgbClr val="94A3B8"/>
                </a:solidFill>
                <a:latin typeface="Inter"/>
              </a:defRPr>
            </a:pPr>
            <a:r>
              <a:t>Structured action</a:t>
            </a:r>
            <a:br/>
            <a:r>
              <a:t>plan generated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6902" y="4663440"/>
            <a:ext cx="141731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100" b="0">
                <a:solidFill>
                  <a:srgbClr val="64748B"/>
                </a:solidFill>
                <a:latin typeface="SF Mono"/>
              </a:defRPr>
            </a:pPr>
            <a:r>
              <a:t>Reroute  +  Rebook</a:t>
            </a:r>
            <a:br/>
            <a:r>
              <a:t>Notify  +  Adjust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09" y="3840480"/>
            <a:ext cx="1645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334155"/>
                </a:solidFill>
                <a:latin typeface="SF Mono"/>
              </a:defRPr>
            </a:pPr>
            <a:r>
              <a:t>-&gt;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57413" y="2377440"/>
            <a:ext cx="1874519" cy="34747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70113" y="2390140"/>
            <a:ext cx="1849119" cy="34493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86013" y="256032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34D399"/>
                </a:solidFill>
                <a:latin typeface="SF Mono"/>
              </a:defRPr>
            </a:pPr>
            <a:r>
              <a:t>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86013" y="3017520"/>
            <a:ext cx="1417319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3" y="3154680"/>
            <a:ext cx="141731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APPROVE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3" y="3566160"/>
            <a:ext cx="1417319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  <a:defRPr sz="1300" b="0">
                <a:solidFill>
                  <a:srgbClr val="94A3B8"/>
                </a:solidFill>
                <a:latin typeface="Inter"/>
              </a:defRPr>
            </a:pPr>
            <a:r>
              <a:t>Human operator</a:t>
            </a:r>
            <a:br/>
            <a:r>
              <a:t>signs 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3" y="4663440"/>
            <a:ext cx="141731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100" b="0">
                <a:solidFill>
                  <a:srgbClr val="64748B"/>
                </a:solidFill>
                <a:latin typeface="SF Mono"/>
              </a:defRPr>
            </a:pPr>
            <a:r>
              <a:t>HITL gate before</a:t>
            </a:r>
            <a:br/>
            <a:r>
              <a:t>any mutation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0220" y="3840480"/>
            <a:ext cx="1645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334155"/>
                </a:solidFill>
                <a:latin typeface="SF Mono"/>
              </a:defRPr>
            </a:pPr>
            <a:r>
              <a:t>-&gt;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96524" y="2377440"/>
            <a:ext cx="1874519" cy="34747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09224" y="2390140"/>
            <a:ext cx="1849119" cy="34493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25124" y="256032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B7185"/>
                </a:solidFill>
                <a:latin typeface="SF Mono"/>
              </a:defRPr>
            </a:pPr>
            <a:r>
              <a:t>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25124" y="3017520"/>
            <a:ext cx="1417319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25124" y="3154680"/>
            <a:ext cx="141731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EXECUTE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25124" y="3566160"/>
            <a:ext cx="1417319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  <a:defRPr sz="1300" b="0">
                <a:solidFill>
                  <a:srgbClr val="94A3B8"/>
                </a:solidFill>
                <a:latin typeface="Inter"/>
              </a:defRPr>
            </a:pPr>
            <a:r>
              <a:t>Real DB write +</a:t>
            </a:r>
            <a:br/>
            <a:r>
              <a:t>audit log entry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25124" y="4663440"/>
            <a:ext cx="141731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100" b="0">
                <a:solidFill>
                  <a:srgbClr val="64748B"/>
                </a:solidFill>
                <a:latin typeface="SF Mono"/>
              </a:defRPr>
            </a:pPr>
            <a:r>
              <a:t>Immutable record</a:t>
            </a:r>
            <a:br/>
            <a:r>
              <a:t>of every 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61264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64748B"/>
                </a:solidFill>
                <a:latin typeface="SF Mono"/>
              </a:defRPr>
            </a:pPr>
            <a:r>
              <a:t>Zero mocks. Zero fake data. Zero seed files. Every data point from a real API.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0">
                <a:solidFill>
                  <a:srgbClr val="334155"/>
                </a:solidFill>
                <a:latin typeface="SF Mono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A78BFA"/>
                </a:solidFill>
                <a:latin typeface="SF Mono"/>
              </a:defRPr>
            </a:pPr>
            <a:r>
              <a:t>WHY WE 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73152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800" b="1">
                <a:solidFill>
                  <a:srgbClr val="FFFFFF"/>
                </a:solidFill>
                <a:latin typeface="Inter"/>
              </a:defRPr>
            </a:pPr>
            <a:r>
              <a:t>Three things no other entry will have.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200400" cy="39319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2780" y="2298700"/>
            <a:ext cx="3175000" cy="39065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38BDF8"/>
                </a:solidFill>
                <a:latin typeface="SF Mono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228600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Live, Real-World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26517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  <a:defRPr sz="1300" b="0">
                <a:solidFill>
                  <a:srgbClr val="94A3B8"/>
                </a:solidFill>
                <a:latin typeface="Inter"/>
              </a:defRPr>
            </a:pPr>
            <a:r>
              <a:t>6 external APIs. AIS vessel positions streaming via WebSocket. Open-Meteo weather. GDELT geopolitical events. WITS tariff rates. Judges can paste any vessel MMSI and watch it move.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577840"/>
            <a:ext cx="2286000" cy="32004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96128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38BDF8"/>
                </a:solidFill>
                <a:latin typeface="SF Mono"/>
              </a:defRPr>
            </a:pPr>
            <a:r>
              <a:t>100% real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286000"/>
            <a:ext cx="3200400" cy="39319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27500" y="2298700"/>
            <a:ext cx="3175000" cy="39065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51460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34D399"/>
                </a:solidFill>
                <a:latin typeface="SF Mono"/>
              </a:defRPr>
            </a:pPr>
            <a: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971800"/>
            <a:ext cx="228600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15468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Human-in-the-Loop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657600"/>
            <a:ext cx="26517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  <a:defRPr sz="1300" b="0">
                <a:solidFill>
                  <a:srgbClr val="94A3B8"/>
                </a:solidFill>
                <a:latin typeface="Inter"/>
              </a:defRPr>
            </a:pPr>
            <a:r>
              <a:t>AI proposes. Humans approve. Every mutation gated behind operator sign-off. Immutable audit log with actor identity, timestamp, tool, and payload. True shared autonomy.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577840"/>
            <a:ext cx="2286000" cy="32004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5596128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34D399"/>
                </a:solidFill>
                <a:latin typeface="SF Mono"/>
              </a:defRPr>
            </a:pPr>
            <a:r>
              <a:t>Zero auto-execute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286000"/>
            <a:ext cx="3200400" cy="39319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02220" y="2298700"/>
            <a:ext cx="3175000" cy="390652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51460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A78BFA"/>
                </a:solidFill>
                <a:latin typeface="SF Mono"/>
              </a:defRPr>
            </a:pPr>
            <a: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971800"/>
            <a:ext cx="228600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315468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MCP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657600"/>
            <a:ext cx="26517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  <a:defRPr sz="1300" b="0">
                <a:solidFill>
                  <a:srgbClr val="94A3B8"/>
                </a:solidFill>
                <a:latin typeface="Inter"/>
              </a:defRPr>
            </a:pPr>
            <a:r>
              <a:t>Same tool registry powers web chat AND an MCP endpoint at /api/mcp. Claude Desktop, IDEs, and partner ERPs can drive logistics on the same audited, HITL-gated rails. The 2026 differentiator.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5577840"/>
            <a:ext cx="2286000" cy="32004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5596128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A78BFA"/>
                </a:solidFill>
                <a:latin typeface="SF Mono"/>
              </a:defRPr>
            </a:pPr>
            <a:r>
              <a:t>One registry, two interfaces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0">
                <a:solidFill>
                  <a:srgbClr val="334155"/>
                </a:solidFill>
                <a:latin typeface="SF Mono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2D3EE"/>
                </a:solidFill>
                <a:latin typeface="SF Mono"/>
              </a:defRPr>
            </a:pPr>
            <a:r>
              <a:t>DATA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73152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800" b="1">
                <a:solidFill>
                  <a:srgbClr val="FFFFFF"/>
                </a:solidFill>
                <a:latin typeface="Inter"/>
              </a:defRPr>
            </a:pPr>
            <a:r>
              <a:t>Six real feeds. Zero fake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2780" y="2298700"/>
            <a:ext cx="3449320" cy="1803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2468880"/>
            <a:ext cx="548640" cy="22860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468880"/>
            <a:ext cx="548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38BDF8"/>
                </a:solidFill>
                <a:latin typeface="SF Mono"/>
              </a:defRPr>
            </a:pPr>
            <a: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38BDF8"/>
                </a:solidFill>
                <a:latin typeface="SF Mono"/>
              </a:defRPr>
            </a:pPr>
            <a:r>
              <a:t>AIS VESSELS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4748B"/>
                </a:solidFill>
                <a:latin typeface="SF Mono"/>
              </a:defRPr>
            </a:pPr>
            <a:r>
              <a:t>aisstream.io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4A3B8"/>
                </a:solidFill>
                <a:latin typeface="Inter"/>
              </a:defRPr>
            </a:pPr>
            <a:r>
              <a:t>Real-time WebSocket stream of global ship positions. Position, speed, heading, and course updated every few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9" y="22860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1819" y="2298700"/>
            <a:ext cx="3449320" cy="1803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19" y="2468880"/>
            <a:ext cx="548640" cy="22860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9" y="2468880"/>
            <a:ext cx="548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34D399"/>
                </a:solidFill>
                <a:latin typeface="SF Mono"/>
              </a:defRPr>
            </a:pPr>
            <a: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4688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34D399"/>
                </a:solidFill>
                <a:latin typeface="SF Mono"/>
              </a:defRPr>
            </a:pPr>
            <a:r>
              <a:t>WEATHER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274320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4748B"/>
                </a:solidFill>
                <a:latin typeface="SF Mono"/>
              </a:defRPr>
            </a:pPr>
            <a:r>
              <a:t>Open-Meteo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306324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4A3B8"/>
                </a:solidFill>
                <a:latin typeface="Inter"/>
              </a:defRPr>
            </a:pPr>
            <a:r>
              <a:t>Marine and standard forecasts along route waypoints. Wind, waves, precipitation, and visibility.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8" y="22860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50858" y="2298700"/>
            <a:ext cx="3449320" cy="1803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881358" y="2468880"/>
            <a:ext cx="548640" cy="228600"/>
          </a:xfrm>
          <a:prstGeom prst="roundRect">
            <a:avLst>
              <a:gd name="adj" fmla="val 15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58" y="2468880"/>
            <a:ext cx="548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FBBF24"/>
                </a:solidFill>
                <a:latin typeface="SF Mono"/>
              </a:defRPr>
            </a:pPr>
            <a:r>
              <a:t>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8" y="24688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BBF24"/>
                </a:solidFill>
                <a:latin typeface="SF Mono"/>
              </a:defRPr>
            </a:pPr>
            <a:r>
              <a:t>GEOPOLITICS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274320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4748B"/>
                </a:solidFill>
                <a:latin typeface="SF Mono"/>
              </a:defRPr>
            </a:pPr>
            <a:r>
              <a:t>GDELT 2.0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8" y="306324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4A3B8"/>
                </a:solidFill>
                <a:latin typeface="Inter"/>
              </a:defRPr>
            </a:pPr>
            <a:r>
              <a:t>Real-time global event detection near shipping corridors. Severity scored from GoldsteinScale and AvgTone.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891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2780" y="4401820"/>
            <a:ext cx="3449320" cy="1803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83280" y="4572000"/>
            <a:ext cx="548640" cy="22860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4572000"/>
            <a:ext cx="548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A78BFA"/>
                </a:solidFill>
                <a:latin typeface="SF Mono"/>
              </a:defRPr>
            </a:pPr>
            <a:r>
              <a:t>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5720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A78BFA"/>
                </a:solidFill>
                <a:latin typeface="SF Mono"/>
              </a:defRPr>
            </a:pPr>
            <a:r>
              <a:t>TARIFFS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4632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4748B"/>
                </a:solidFill>
                <a:latin typeface="SF Mono"/>
              </a:defRPr>
            </a:pPr>
            <a:r>
              <a:t>WITS / World Bank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4A3B8"/>
                </a:solidFill>
                <a:latin typeface="Inter"/>
              </a:defRPr>
            </a:pPr>
            <a:r>
              <a:t>Duty rates by HS-6 code, reporter and partner country. Cached 24h in Turso for performance.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19" y="43891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01819" y="4401820"/>
            <a:ext cx="3449320" cy="1803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32319" y="4572000"/>
            <a:ext cx="548640" cy="228600"/>
          </a:xfrm>
          <a:prstGeom prst="roundRect">
            <a:avLst>
              <a:gd name="adj" fmla="val 15000"/>
            </a:avLst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19" y="4572000"/>
            <a:ext cx="548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FB7185"/>
                </a:solidFill>
                <a:latin typeface="SF Mono"/>
              </a:defRPr>
            </a:pPr>
            <a:r>
              <a:t>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39" y="45720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B7185"/>
                </a:solidFill>
                <a:latin typeface="SF Mono"/>
              </a:defRPr>
            </a:pPr>
            <a:r>
              <a:t>ROUTING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39" y="484632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4748B"/>
                </a:solidFill>
                <a:latin typeface="SF Mono"/>
              </a:defRPr>
            </a:pPr>
            <a:r>
              <a:t>OSRM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39" y="516636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4A3B8"/>
                </a:solidFill>
                <a:latin typeface="Inter"/>
              </a:defRPr>
            </a:pPr>
            <a:r>
              <a:t>Real road distances and durations. Great-circle calculations for sea legs with waypoint generation.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58" y="43891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50858" y="4401820"/>
            <a:ext cx="3449320" cy="1803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881358" y="4572000"/>
            <a:ext cx="548640" cy="228600"/>
          </a:xfrm>
          <a:prstGeom prst="roundRect">
            <a:avLst>
              <a:gd name="adj" fmla="val 1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81358" y="4572000"/>
            <a:ext cx="548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22D3EE"/>
                </a:solidFill>
                <a:latin typeface="SF Mono"/>
              </a:defRPr>
            </a:pPr>
            <a:r>
              <a:t>CALC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78" y="45720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2D3EE"/>
                </a:solidFill>
                <a:latin typeface="SF Mono"/>
              </a:defRPr>
            </a:pPr>
            <a:r>
              <a:t>EMISSIONS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78" y="484632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4748B"/>
                </a:solidFill>
                <a:latin typeface="SF Mono"/>
              </a:defRPr>
            </a:pPr>
            <a:r>
              <a:t>GLEC v3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8" y="516636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4A3B8"/>
                </a:solidFill>
                <a:latin typeface="Inter"/>
              </a:defRPr>
            </a:pPr>
            <a:r>
              <a:t>Well-to-Wheel CO2e emission factors per transport mode. EU Digital Product Passport compliant output.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0">
                <a:solidFill>
                  <a:srgbClr val="334155"/>
                </a:solidFill>
                <a:latin typeface="SF Mono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38BDF8"/>
                </a:solidFill>
                <a:latin typeface="SF Mono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73152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FFFFF"/>
                </a:solidFill>
                <a:latin typeface="Inter"/>
              </a:defRPr>
            </a:pPr>
            <a:r>
              <a:t>One tool registry. Two interfaces. Full audit trail.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0881360" cy="685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2780" y="2024380"/>
            <a:ext cx="10855960" cy="660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84832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38BDF8"/>
                </a:solidFill>
                <a:latin typeface="SF Mono"/>
              </a:defRPr>
            </a:pPr>
            <a:r>
              <a:t>EXTERNAL FEEDS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59152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aisstream.io  |  Open-Meteo  |  GDELT  |  WITS  |  OSRM  |  OpenFreeMap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651760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334155"/>
                </a:solidFill>
                <a:latin typeface="SF Mono"/>
              </a:defRPr>
            </a:pPr>
            <a:r>
              <a:t>|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80360"/>
            <a:ext cx="10881360" cy="685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2780" y="2893060"/>
            <a:ext cx="10855960" cy="660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54864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53512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A78BFA"/>
                </a:solidFill>
                <a:latin typeface="SF Mono"/>
              </a:defRPr>
            </a:pPr>
            <a:r>
              <a:t>INGEST + 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27832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AIS WebSocket Ingestor  |  Enrichment Cron Pipeline  |  Anomaly Detection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520440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334155"/>
                </a:solidFill>
                <a:latin typeface="SF Mono"/>
              </a:defRPr>
            </a:pPr>
            <a:r>
              <a:t>|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40"/>
            <a:ext cx="10881360" cy="685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2780" y="3761740"/>
            <a:ext cx="10855960" cy="660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54864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2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34D399"/>
                </a:solidFill>
                <a:latin typeface="SF Mono"/>
              </a:defRPr>
            </a:pPr>
            <a:r>
              <a:t>NEXT.JS 16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096512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RSC Dashboard  |  /api/chat (Agent Loop)  |  /api/mcp (MCP Server)  |  SSE Streams  |  HITL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389120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334155"/>
                </a:solidFill>
                <a:latin typeface="SF Mono"/>
              </a:defRPr>
            </a:pPr>
            <a:r>
              <a:t>|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17720"/>
            <a:ext cx="10881360" cy="685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2780" y="4630420"/>
            <a:ext cx="10855960" cy="660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617720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90872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BBF24"/>
                </a:solidFill>
                <a:latin typeface="SF Mono"/>
              </a:defRPr>
            </a:pPr>
            <a:r>
              <a:t>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65192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Turso (libSQL) + Drizzle ORM  |  12 Tables  |  Events Audit  |  Clerk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257800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334155"/>
                </a:solidFill>
                <a:latin typeface="SF Mono"/>
              </a:defRPr>
            </a:pPr>
            <a:r>
              <a:t>|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486400"/>
            <a:ext cx="10881360" cy="685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2780" y="5499100"/>
            <a:ext cx="10855960" cy="660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486400"/>
            <a:ext cx="54864" cy="6858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559552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B7185"/>
                </a:solidFill>
                <a:latin typeface="SF Mono"/>
              </a:defRPr>
            </a:pPr>
            <a:r>
              <a:t>AI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833872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AWS Bedrock  --  Claude 3.5 Sonnet  |  Vercel AI SDK v6  |  Budget Guardrails  |  Token Meter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806440"/>
            <a:ext cx="10881360" cy="4572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2780" y="5819140"/>
            <a:ext cx="10855960" cy="431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38BDF8"/>
                </a:solidFill>
                <a:latin typeface="SF Mono"/>
              </a:defRPr>
            </a:pPr>
            <a:r>
              <a:t>src/lib/agent/tools/index.ts  --&gt;  single Zod-typed registry shared by /api/chat AND /api/mcp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0">
                <a:solidFill>
                  <a:srgbClr val="334155"/>
                </a:solidFill>
                <a:latin typeface="SF Mono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34D399"/>
                </a:solidFill>
                <a:latin typeface="SF Mono"/>
              </a:defRPr>
            </a:pPr>
            <a:r>
              <a:t>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73152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2743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200" b="1">
                <a:solidFill>
                  <a:srgbClr val="34D399"/>
                </a:solidFill>
                <a:latin typeface="Inter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41732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200"/>
              </a:lnSpc>
              <a:defRPr sz="2200" b="0">
                <a:solidFill>
                  <a:srgbClr val="CBD5E1"/>
                </a:solidFill>
                <a:latin typeface="Inter"/>
              </a:defRPr>
            </a:pPr>
            <a:r>
              <a:t>features shipped in a single sprint.</a:t>
            </a:r>
            <a:br/>
            <a:r>
              <a:t>Every one wired to real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8BDF8"/>
                </a:solidFill>
                <a:latin typeface="SF Mono"/>
              </a:defRPr>
            </a:pPr>
            <a:r>
              <a:t>F01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5603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Turso + Drizzle persistence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8BDF8"/>
                </a:solidFill>
                <a:latin typeface="SF Mono"/>
              </a:defRPr>
            </a:pPr>
            <a:r>
              <a:t>F02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94436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Clerk authentication + protected 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28416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8BDF8"/>
                </a:solidFill>
                <a:latin typeface="SF Mono"/>
              </a:defRPr>
            </a:pPr>
            <a:r>
              <a:t>F03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28416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Dark-mode industrial app 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12464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8BDF8"/>
                </a:solidFill>
                <a:latin typeface="SF Mono"/>
              </a:defRPr>
            </a:pPr>
            <a:r>
              <a:t>F04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12464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Shipment CRUD + CSV import + UN/LOCODE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4D399"/>
                </a:solidFill>
                <a:latin typeface="SF Mono"/>
              </a:defRPr>
            </a:pPr>
            <a:r>
              <a:t>F05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096512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Live AIS WebSocket ingestor + 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4D399"/>
                </a:solidFill>
                <a:latin typeface="SF Mono"/>
              </a:defRPr>
            </a:pPr>
            <a:r>
              <a:t>F06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8056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OSRM + Open-Meteo + GDELT enrichment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64608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4D399"/>
                </a:solidFill>
                <a:latin typeface="SF Mono"/>
              </a:defRPr>
            </a:pPr>
            <a:r>
              <a:t>F07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6460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Global Command Center with real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48656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4D399"/>
                </a:solidFill>
                <a:latin typeface="SF Mono"/>
              </a:defRPr>
            </a:pPr>
            <a:r>
              <a:t>F08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248656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MapLibre live vessel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32704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A78BFA"/>
                </a:solidFill>
                <a:latin typeface="SF Mono"/>
              </a:defRPr>
            </a:pPr>
            <a:r>
              <a:t>F09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632704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Predictive ETA + anomaly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016752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A78BFA"/>
                </a:solidFill>
                <a:latin typeface="SF Mono"/>
              </a:defRPr>
            </a:pPr>
            <a:r>
              <a:t>F10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6016752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Bedrock agent tool-loop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560320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A78BFA"/>
                </a:solidFill>
                <a:latin typeface="SF Mono"/>
              </a:defRPr>
            </a:pPr>
            <a:r>
              <a:t>F11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5603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Agent chat UI + reasoning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44368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A78BFA"/>
                </a:solidFill>
                <a:latin typeface="SF Mono"/>
              </a:defRPr>
            </a:pPr>
            <a:r>
              <a:t>F12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94436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HITL approval flow + audit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328416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B7185"/>
                </a:solidFill>
                <a:latin typeface="SF Mono"/>
              </a:defRPr>
            </a:pPr>
            <a:r>
              <a:t>F13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328416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MCP server at /api/mcp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712464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B7185"/>
                </a:solidFill>
                <a:latin typeface="SF Mono"/>
              </a:defRPr>
            </a:pPr>
            <a:r>
              <a:t>F14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712464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GLEC emissions + EU DPP 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B7185"/>
                </a:solidFill>
                <a:latin typeface="SF Mono"/>
              </a:defRPr>
            </a:pPr>
            <a:r>
              <a:t>F15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096512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WITS tariff simulator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480560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BBF24"/>
                </a:solidFill>
                <a:latin typeface="SF Mono"/>
              </a:defRPr>
            </a:pPr>
            <a:r>
              <a:t>F16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48056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Inventory monitor + safety stock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64608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BBF24"/>
                </a:solidFill>
                <a:latin typeface="SF Mono"/>
              </a:defRPr>
            </a:pPr>
            <a:r>
              <a:t>F17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864608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Token budget guardrails + meter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48656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BBF24"/>
                </a:solidFill>
                <a:latin typeface="SF Mono"/>
              </a:defRPr>
            </a:pPr>
            <a:r>
              <a:t>F18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5248656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Production deploy on Vercel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632704"/>
            <a:ext cx="548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BBF24"/>
                </a:solidFill>
                <a:latin typeface="SF Mono"/>
              </a:defRPr>
            </a:pPr>
            <a:r>
              <a:t>F19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5632704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Inter"/>
              </a:defRPr>
            </a:pPr>
            <a:r>
              <a:t>Landing page + pitch materials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2560320"/>
            <a:ext cx="1270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0">
                <a:solidFill>
                  <a:srgbClr val="334155"/>
                </a:solidFill>
                <a:latin typeface="SF Mono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BBF24"/>
                </a:solidFill>
                <a:latin typeface="SF Mono"/>
              </a:defRPr>
            </a:pPr>
            <a:r>
              <a:t>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73152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800" b="1">
                <a:solidFill>
                  <a:srgbClr val="FFFFFF"/>
                </a:solidFill>
                <a:latin typeface="Inter"/>
              </a:defRPr>
            </a:pPr>
            <a:r>
              <a:t>90 seconds. Unscripted disruption. Real resolution.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2780" y="2298700"/>
            <a:ext cx="2580640" cy="1803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38BDF8"/>
                </a:solidFill>
                <a:latin typeface="SF Mono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788920"/>
            <a:ext cx="182880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Landing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2148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4A3B8"/>
                </a:solidFill>
                <a:latin typeface="Inter"/>
              </a:defRPr>
            </a:pPr>
            <a:r>
              <a:t>Three pillars: live data,</a:t>
            </a:r>
            <a:br/>
            <a:r>
              <a:t>human approval, MCP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2860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87420" y="2298700"/>
            <a:ext cx="2580640" cy="1803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42316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38BDF8"/>
                </a:solidFill>
                <a:latin typeface="SF Mono"/>
              </a:defRPr>
            </a:pPr>
            <a: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2788920"/>
            <a:ext cx="182880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926080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Command Center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291840"/>
            <a:ext cx="2148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4A3B8"/>
                </a:solidFill>
                <a:latin typeface="Inter"/>
              </a:defRPr>
            </a:pPr>
            <a:r>
              <a:t>Real KPIs from Turso DB,</a:t>
            </a:r>
            <a:br/>
            <a:r>
              <a:t>live exception feed via SSE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860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2060" y="2298700"/>
            <a:ext cx="2580640" cy="1803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42316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34D399"/>
                </a:solidFill>
                <a:latin typeface="SF Mono"/>
              </a:defRPr>
            </a:pPr>
            <a: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788920"/>
            <a:ext cx="182880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926080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Live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291840"/>
            <a:ext cx="2148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4A3B8"/>
                </a:solidFill>
                <a:latin typeface="Inter"/>
              </a:defRPr>
            </a:pPr>
            <a:r>
              <a:t>Vessel moving in real-time</a:t>
            </a:r>
            <a:br/>
            <a:r>
              <a:t>from AIS data on MapLibre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2860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56700" y="2298700"/>
            <a:ext cx="2580640" cy="1803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242316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34D399"/>
                </a:solidFill>
                <a:latin typeface="SF Mono"/>
              </a:defRPr>
            </a:pPr>
            <a: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2788920"/>
            <a:ext cx="182880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2926080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Agent 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291840"/>
            <a:ext cx="2148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4A3B8"/>
                </a:solidFill>
                <a:latin typeface="Inter"/>
              </a:defRPr>
            </a:pPr>
            <a:r>
              <a:t>"Reroute around the disruption</a:t>
            </a:r>
            <a:br/>
            <a:r>
              <a:t>near port X"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389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2780" y="4401820"/>
            <a:ext cx="2580640" cy="1803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2628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A78BFA"/>
                </a:solidFill>
                <a:latin typeface="SF Mono"/>
              </a:defRPr>
            </a:pPr>
            <a: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892040"/>
            <a:ext cx="182880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029200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Tool Calls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394960"/>
            <a:ext cx="2148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4A3B8"/>
                </a:solidFill>
                <a:latin typeface="Inter"/>
              </a:defRPr>
            </a:pPr>
            <a:r>
              <a:t>Watch agent call GDELT,</a:t>
            </a:r>
            <a:br/>
            <a:r>
              <a:t>weather, routing tools live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0" y="4389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87420" y="4401820"/>
            <a:ext cx="2580640" cy="1803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03320" y="452628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A78BFA"/>
                </a:solidFill>
                <a:latin typeface="SF Mono"/>
              </a:defRPr>
            </a:pPr>
            <a:r>
              <a:t>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4892040"/>
            <a:ext cx="182880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3320" y="5029200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HITL Approval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5394960"/>
            <a:ext cx="2148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4A3B8"/>
                </a:solidFill>
                <a:latin typeface="Inter"/>
              </a:defRPr>
            </a:pPr>
            <a:r>
              <a:t>Operator approves reroute.</a:t>
            </a:r>
            <a:br/>
            <a:r>
              <a:t>Real DB mutation executes.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4389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22060" y="4401820"/>
            <a:ext cx="2580640" cy="1803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52628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BBF24"/>
                </a:solidFill>
                <a:latin typeface="SF Mono"/>
              </a:defRPr>
            </a:pPr>
            <a:r>
              <a:t>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4892040"/>
            <a:ext cx="182880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5029200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Audit 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394960"/>
            <a:ext cx="2148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4A3B8"/>
                </a:solidFill>
                <a:latin typeface="Inter"/>
              </a:defRPr>
            </a:pPr>
            <a:r>
              <a:t>Immutable record: who, what,</a:t>
            </a:r>
            <a:br/>
            <a:r>
              <a:t>when, payload, outcome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0" y="4389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156700" y="4401820"/>
            <a:ext cx="2580640" cy="1803400"/>
          </a:xfrm>
          <a:prstGeom prst="roundRect">
            <a:avLst>
              <a:gd name="adj" fmla="val 4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452628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BBF24"/>
                </a:solidFill>
                <a:latin typeface="SF Mono"/>
              </a:defRPr>
            </a:pPr>
            <a:r>
              <a:t>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72600" y="4892040"/>
            <a:ext cx="182880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72600" y="5029200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MCP Token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72600" y="5394960"/>
            <a:ext cx="2148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00"/>
              </a:lnSpc>
              <a:defRPr sz="1200" b="0">
                <a:solidFill>
                  <a:srgbClr val="94A3B8"/>
                </a:solidFill>
                <a:latin typeface="Inter"/>
              </a:defRPr>
            </a:pPr>
            <a:r>
              <a:t>Claude Desktop config snippet</a:t>
            </a:r>
            <a:br/>
            <a:r>
              <a:t>for external agent access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0">
                <a:solidFill>
                  <a:srgbClr val="334155"/>
                </a:solidFill>
                <a:latin typeface="SF Mono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B7185"/>
                </a:solidFill>
                <a:latin typeface="SF Mono"/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73152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800" b="1">
                <a:solidFill>
                  <a:srgbClr val="FFFFFF"/>
                </a:solidFill>
                <a:latin typeface="Inter"/>
              </a:defRPr>
            </a:pPr>
            <a:r>
              <a:t>Modern, production-grade, free-tier friendly.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121408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01168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38BDF8"/>
                </a:solidFill>
                <a:latin typeface="SF Mono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BD5E1"/>
                </a:solidFill>
                <a:latin typeface="Inter"/>
              </a:defRPr>
            </a:pPr>
            <a:r>
              <a:t>Next.js 16  +  React 19  +  Turbopack  +  Tailwind CSS v4  +  shadcn/ui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450592"/>
            <a:ext cx="100584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2688336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578608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A78BFA"/>
                </a:solidFill>
                <a:latin typeface="SF Mono"/>
              </a:defRPr>
            </a:pPr>
            <a:r>
              <a:t>AI /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578608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BD5E1"/>
                </a:solidFill>
                <a:latin typeface="Inter"/>
              </a:defRPr>
            </a:pPr>
            <a:r>
              <a:t>Vercel AI SDK v6  +  AWS Bedrock (Claude 3.5 Sonnet)  +  MCP SDK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017520"/>
            <a:ext cx="100584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325526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145536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34D399"/>
                </a:solidFill>
                <a:latin typeface="SF Mono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145536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BD5E1"/>
                </a:solidFill>
                <a:latin typeface="Inter"/>
              </a:defRPr>
            </a:pPr>
            <a:r>
              <a:t>Turso (libSQL)  +  Drizzle ORM  --  edge-compatible, sub-ms reads, 12 tables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584448"/>
            <a:ext cx="100584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382219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712464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2D3EE"/>
                </a:solidFill>
                <a:latin typeface="SF Mono"/>
              </a:defRPr>
            </a:pPr>
            <a:r>
              <a:t>MAPS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712464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BD5E1"/>
                </a:solidFill>
                <a:latin typeface="Inter"/>
              </a:defRPr>
            </a:pPr>
            <a:r>
              <a:t>MapLibre GL JS  +  OpenFreeMap  --  no API key, true open source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151376"/>
            <a:ext cx="100584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438912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79392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BBF24"/>
                </a:solidFill>
                <a:latin typeface="SF Mono"/>
              </a:defRPr>
            </a:pPr>
            <a:r>
              <a:t>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79392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BD5E1"/>
                </a:solidFill>
                <a:latin typeface="Inter"/>
              </a:defRPr>
            </a:pPr>
            <a:r>
              <a:t>Clerk  --  production-grade operator login, identity in audit trail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718304"/>
            <a:ext cx="100584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7280" y="4956048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84632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38BDF8"/>
                </a:solidFill>
                <a:latin typeface="SF Mono"/>
              </a:defRPr>
            </a:pPr>
            <a:r>
              <a:t>REALTIME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84632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BD5E1"/>
                </a:solidFill>
                <a:latin typeface="Inter"/>
              </a:defRPr>
            </a:pPr>
            <a:r>
              <a:t>Server-Sent Events  --  vessel position stream + exception feed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5285232"/>
            <a:ext cx="100584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7280" y="5522976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5413248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B7185"/>
                </a:solidFill>
                <a:latin typeface="SF Mono"/>
              </a:defRPr>
            </a:pPr>
            <a: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413248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BD5E1"/>
                </a:solidFill>
                <a:latin typeface="Inter"/>
              </a:defRPr>
            </a:pPr>
            <a:r>
              <a:t>Zod v4  --  API inputs, tool arguments, external API responses, env vars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5852160"/>
            <a:ext cx="100584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280" y="608990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17320" y="5980176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34D399"/>
                </a:solidFill>
                <a:latin typeface="SF Mono"/>
              </a:defRPr>
            </a:pPr>
            <a:r>
              <a:t>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980176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BD5E1"/>
                </a:solidFill>
                <a:latin typeface="Inter"/>
              </a:defRPr>
            </a:pPr>
            <a:r>
              <a:t>Vercel (zero-config)  +  AWS Lambda (AIS ingestor)  +  Turso cloud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0">
                <a:solidFill>
                  <a:srgbClr val="334155"/>
                </a:solidFill>
                <a:latin typeface="SF Mono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-457200"/>
            <a:ext cx="9144000" cy="91440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2743200"/>
            <a:ext cx="7315200" cy="7315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Inter"/>
              </a:rPr>
              <a:t>NEXUS</a:t>
            </a:r>
            <a:r>
              <a:rPr sz="6400" b="1">
                <a:solidFill>
                  <a:srgbClr val="38BDF8"/>
                </a:solidFill>
                <a:latin typeface="Inter"/>
              </a:rPr>
              <a:t>TOWER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0">
                <a:solidFill>
                  <a:srgbClr val="CBD5E1"/>
                </a:solidFill>
                <a:latin typeface="Inter"/>
              </a:defRPr>
            </a:pPr>
            <a:r>
              <a:t>From visibility to execution.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3913632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38404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100% real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84048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every data point from a live external API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4416552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43434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Human-in-the-Loop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34340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AI proposes, humans approve, audit logs everything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491947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484632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MCP-native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84632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external agents on the same audited, HITL-gated rails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5422392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53492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20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34924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production-grade, deployed, zero mocks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38BDF8"/>
                </a:solidFill>
                <a:latin typeface="SF Mono"/>
              </a:defRPr>
            </a:pPr>
            <a:r>
              <a:t>nexus-tower.vercel.app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6492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64748B"/>
                </a:solidFill>
                <a:latin typeface="Inter"/>
              </a:defRPr>
            </a:pPr>
            <a:r>
              <a:t>Synapse Innovation Hack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100" b="0">
                <a:solidFill>
                  <a:srgbClr val="334155"/>
                </a:solidFill>
                <a:latin typeface="SF Mon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